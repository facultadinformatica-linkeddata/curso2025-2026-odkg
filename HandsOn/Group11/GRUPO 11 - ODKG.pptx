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  <p:embeddedFont>
      <p:font typeface="Maven Pro Medium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22" Type="http://schemas.openxmlformats.org/officeDocument/2006/relationships/font" Target="fonts/MavenProMedium-bold.fntdata"/><Relationship Id="rId10" Type="http://schemas.openxmlformats.org/officeDocument/2006/relationships/slide" Target="slides/slide5.xml"/><Relationship Id="rId21" Type="http://schemas.openxmlformats.org/officeDocument/2006/relationships/font" Target="fonts/MavenProMedium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3bbdfa7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3bbdfa7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3bbdfa7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3bbdfa7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3bbdfa7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3bbdfa7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3bbdfa7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3bbdfa7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3bbdfa7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3bbdfa7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3bbdfa7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3bbdfa7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3bbdfa7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3bbdfa7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3bbdfa78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3bbdfa7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CRTM WebApp 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14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140">
                <a:latin typeface="Maven Pro Medium"/>
                <a:ea typeface="Maven Pro Medium"/>
                <a:cs typeface="Maven Pro Medium"/>
                <a:sym typeface="Maven Pro Medium"/>
              </a:rPr>
              <a:t>    Juan Antonio Celaya Rodríguez</a:t>
            </a:r>
            <a:endParaRPr sz="114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140">
                <a:latin typeface="Maven Pro Medium"/>
                <a:ea typeface="Maven Pro Medium"/>
                <a:cs typeface="Maven Pro Medium"/>
                <a:sym typeface="Maven Pro Medium"/>
              </a:rPr>
              <a:t>    David </a:t>
            </a:r>
            <a:r>
              <a:rPr lang="es" sz="1140">
                <a:latin typeface="Maven Pro Medium"/>
                <a:ea typeface="Maven Pro Medium"/>
                <a:cs typeface="Maven Pro Medium"/>
                <a:sym typeface="Maven Pro Medium"/>
              </a:rPr>
              <a:t>Roldán</a:t>
            </a:r>
            <a:r>
              <a:rPr lang="es" sz="1140">
                <a:latin typeface="Maven Pro Medium"/>
                <a:ea typeface="Maven Pro Medium"/>
                <a:cs typeface="Maven Pro Medium"/>
                <a:sym typeface="Maven Pro Medium"/>
              </a:rPr>
              <a:t> Alvarez </a:t>
            </a:r>
            <a:endParaRPr sz="114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140">
                <a:latin typeface="Maven Pro Medium"/>
                <a:ea typeface="Maven Pro Medium"/>
                <a:cs typeface="Maven Pro Medium"/>
                <a:sym typeface="Maven Pro Medium"/>
              </a:rPr>
              <a:t>    David Martinez Diaz </a:t>
            </a:r>
            <a:endParaRPr sz="114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140">
                <a:latin typeface="Maven Pro Medium"/>
                <a:ea typeface="Maven Pro Medium"/>
                <a:cs typeface="Maven Pro Medium"/>
                <a:sym typeface="Maven Pro Medium"/>
              </a:rPr>
              <a:t>    Zakaria Smaty Smaty </a:t>
            </a:r>
            <a:endParaRPr sz="114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6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Objective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6624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Our main objective is to create a final application that shows the bus stops, routes and times on a Madrid map based on the dataset that we have selected, using the information provided.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A user testing the application should be able to: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Find </a:t>
            </a:r>
            <a:r>
              <a:rPr b="1" lang="es"/>
              <a:t>nearby stops</a:t>
            </a:r>
            <a:r>
              <a:rPr lang="es"/>
              <a:t> by clicking on any point of the map (1 km circle range)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Check </a:t>
            </a:r>
            <a:r>
              <a:rPr b="1" lang="es"/>
              <a:t>arrival time</a:t>
            </a:r>
            <a:r>
              <a:rPr lang="es"/>
              <a:t> of the buses in any stop available on the 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Draw any </a:t>
            </a:r>
            <a:r>
              <a:rPr b="1" lang="es"/>
              <a:t>bus route</a:t>
            </a:r>
            <a:r>
              <a:rPr lang="es"/>
              <a:t> on the map by giving the bus number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393875" y="1383450"/>
            <a:ext cx="8560200" cy="29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139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5215"/>
              <a:t>Our selected </a:t>
            </a:r>
            <a:r>
              <a:rPr lang="es" sz="5215"/>
              <a:t>dataset</a:t>
            </a:r>
            <a:r>
              <a:rPr lang="es" sz="5215"/>
              <a:t> c</a:t>
            </a:r>
            <a:r>
              <a:rPr lang="es" sz="5215"/>
              <a:t>ontains information about bus routes, stops, times and timetables.</a:t>
            </a:r>
            <a:endParaRPr sz="5215"/>
          </a:p>
          <a:p>
            <a:pPr indent="-31139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5215"/>
              <a:t>The dataset fulfill the 6 requirements of the statement.</a:t>
            </a:r>
            <a:endParaRPr sz="5215"/>
          </a:p>
          <a:p>
            <a:pPr indent="-31139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5215"/>
              <a:t>The dataset is published under the CRTM Open and Static Data License.</a:t>
            </a:r>
            <a:endParaRPr sz="5215"/>
          </a:p>
          <a:p>
            <a:pPr indent="-31139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5215"/>
              <a:t>This license allows free reuse provided that the following conditions are met:</a:t>
            </a:r>
            <a:endParaRPr sz="5215"/>
          </a:p>
          <a:p>
            <a:pPr indent="-298694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4415"/>
              <a:t>Mandatory attribution: Powered by Consorcio Regional de Transportes de Madrid (CRTM).</a:t>
            </a:r>
            <a:endParaRPr sz="4415"/>
          </a:p>
          <a:p>
            <a:pPr indent="-298694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4415"/>
              <a:t>Preservation of metadata and provenance information.</a:t>
            </a:r>
            <a:endParaRPr sz="4415"/>
          </a:p>
          <a:p>
            <a:pPr indent="-29869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4415"/>
              <a:t>No implication of sponsorship or endorsement by the CRTM.</a:t>
            </a:r>
            <a:endParaRPr sz="4415"/>
          </a:p>
          <a:p>
            <a:pPr indent="-31139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5215"/>
              <a:t>Csv Files</a:t>
            </a:r>
            <a:endParaRPr sz="5215"/>
          </a:p>
          <a:p>
            <a:pPr indent="-301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4565"/>
              <a:t>Routes.csv, </a:t>
            </a:r>
            <a:r>
              <a:rPr lang="es" sz="4565"/>
              <a:t>Trips.csv</a:t>
            </a:r>
            <a:endParaRPr sz="4565"/>
          </a:p>
          <a:p>
            <a:pPr indent="-301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4565"/>
              <a:t>Stops.csv, </a:t>
            </a:r>
            <a:r>
              <a:rPr lang="es" sz="4565"/>
              <a:t>Stop-times.csv</a:t>
            </a:r>
            <a:endParaRPr sz="4565"/>
          </a:p>
          <a:p>
            <a:pPr indent="-301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s" sz="4565"/>
              <a:t>Agency.csv, </a:t>
            </a:r>
            <a:r>
              <a:rPr lang="es" sz="4565"/>
              <a:t>Calendar.csv</a:t>
            </a:r>
            <a:endParaRPr sz="4565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200" y="4075950"/>
            <a:ext cx="1615307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</a:t>
            </a:r>
            <a:r>
              <a:rPr lang="es"/>
              <a:t>Processing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393875" y="1383450"/>
            <a:ext cx="8560200" cy="29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Using OpenRefine we modified 6 of our CSVs ( routes, stops, stop-times, trips, agency and </a:t>
            </a:r>
            <a:r>
              <a:rPr lang="es"/>
              <a:t>calendar</a:t>
            </a:r>
            <a:r>
              <a:rPr lang="es"/>
              <a:t>) 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Most of the changes were dataType changes, useless blankspace removal, handling empty/null values correctly and removal of duplicate rows.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In Stops, Routes y Trips, we used a GREL script on all address columns to normalize the naming by uppercasing, providing accents where absent and completing all abbreviations, e.g.: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 sz="1300"/>
              <a:t>AVDA -&gt; AVENIDA</a:t>
            </a:r>
            <a:endParaRPr sz="11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 sz="1300"/>
              <a:t>S.L.ESCORIAL -&gt;  SAN LORENZO DEL ESCORIAL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 sz="1300"/>
              <a:t>ALCALDE J.MªDE LAS HERAS-CHINCHÓN -&gt; ALCALDE JOSÉ MARÍA DE LAS HERAS-CHINCHÓN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 Removal of empty columns</a:t>
            </a:r>
            <a:endParaRPr/>
          </a:p>
        </p:txBody>
      </p:sp>
      <p:pic>
        <p:nvPicPr>
          <p:cNvPr id="298" name="Google Shape;298;p16" title="OpenRefine_logo_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650" y="4382552"/>
            <a:ext cx="2920699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Ontology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Our ontology models the </a:t>
            </a:r>
            <a:r>
              <a:rPr b="1" lang="es"/>
              <a:t>GTFS </a:t>
            </a:r>
            <a:r>
              <a:rPr lang="es"/>
              <a:t>standard to represent the </a:t>
            </a:r>
            <a:r>
              <a:rPr b="1" lang="es"/>
              <a:t>CRTM </a:t>
            </a:r>
            <a:r>
              <a:rPr lang="es"/>
              <a:t>bus network.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Nodes: </a:t>
            </a:r>
            <a:r>
              <a:rPr b="1" lang="es"/>
              <a:t>Agency</a:t>
            </a:r>
            <a:r>
              <a:rPr lang="es"/>
              <a:t>, </a:t>
            </a:r>
            <a:r>
              <a:rPr b="1" lang="es"/>
              <a:t>BusRoute</a:t>
            </a:r>
            <a:r>
              <a:rPr lang="es"/>
              <a:t>, </a:t>
            </a:r>
            <a:r>
              <a:rPr b="1" lang="es"/>
              <a:t>Trip</a:t>
            </a:r>
            <a:r>
              <a:rPr lang="es"/>
              <a:t>, </a:t>
            </a:r>
            <a:r>
              <a:rPr b="1" lang="es"/>
              <a:t>Stop</a:t>
            </a:r>
            <a:r>
              <a:rPr lang="es"/>
              <a:t>, </a:t>
            </a:r>
            <a:r>
              <a:rPr b="1" lang="es"/>
              <a:t>StopTime</a:t>
            </a:r>
            <a:r>
              <a:rPr lang="es"/>
              <a:t>, </a:t>
            </a:r>
            <a:r>
              <a:rPr b="1" lang="es"/>
              <a:t>CalendarService </a:t>
            </a:r>
            <a:r>
              <a:rPr lang="es"/>
              <a:t>and </a:t>
            </a:r>
            <a:r>
              <a:rPr b="1" lang="es"/>
              <a:t>Shape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We deleted the nodes: </a:t>
            </a:r>
            <a:r>
              <a:rPr b="1" lang="es"/>
              <a:t>FeedInfo</a:t>
            </a:r>
            <a:r>
              <a:rPr lang="es"/>
              <a:t> and </a:t>
            </a:r>
            <a:r>
              <a:rPr b="1" lang="es"/>
              <a:t>CalendarException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Reused other ontologies such as: 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Schema.org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WGS84 Geo Positioning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W3C Time Ontology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RDF Generation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16624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We used </a:t>
            </a:r>
            <a:r>
              <a:rPr b="1" lang="es"/>
              <a:t>YARRRML </a:t>
            </a:r>
            <a:r>
              <a:rPr lang="es"/>
              <a:t>to build our mappings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Used </a:t>
            </a:r>
            <a:r>
              <a:rPr b="1" lang="es"/>
              <a:t>Matey</a:t>
            </a:r>
            <a:r>
              <a:rPr lang="es"/>
              <a:t> to get an RML file.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Tried to use </a:t>
            </a:r>
            <a:r>
              <a:rPr b="1" lang="es"/>
              <a:t>Morph </a:t>
            </a:r>
            <a:r>
              <a:rPr lang="es"/>
              <a:t>to get the final </a:t>
            </a:r>
            <a:r>
              <a:rPr b="1" lang="es"/>
              <a:t>Turtle </a:t>
            </a:r>
            <a:r>
              <a:rPr lang="es"/>
              <a:t>file but we had too many problems.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Finally used </a:t>
            </a:r>
            <a:r>
              <a:rPr b="1" lang="es"/>
              <a:t>RMLio</a:t>
            </a:r>
            <a:endParaRPr b="1"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600" y="3202437"/>
            <a:ext cx="1083900" cy="10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2588" y="3284738"/>
            <a:ext cx="2448825" cy="9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8775" y="3088162"/>
            <a:ext cx="1312475" cy="13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Linking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Our data was linked to </a:t>
            </a:r>
            <a:r>
              <a:rPr b="1" lang="es"/>
              <a:t>Wikidata</a:t>
            </a:r>
            <a:r>
              <a:rPr lang="es"/>
              <a:t> using the </a:t>
            </a:r>
            <a:r>
              <a:rPr b="1" lang="es"/>
              <a:t>OpenRefine</a:t>
            </a:r>
            <a:r>
              <a:rPr lang="es"/>
              <a:t> tool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We selected the </a:t>
            </a:r>
            <a:r>
              <a:rPr b="1" lang="es"/>
              <a:t>street names </a:t>
            </a:r>
            <a:r>
              <a:rPr lang="es"/>
              <a:t>as the main category for linking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Process: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We matched the street names of our bus stops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We reconciled them against Wikidata filtering by "street" type to ensure accuracy.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s"/>
              <a:t>We extracted the official Wikidata URI, creating an </a:t>
            </a:r>
            <a:r>
              <a:rPr b="1" i="1" lang="es"/>
              <a:t>owl:sameAs</a:t>
            </a:r>
            <a:r>
              <a:rPr lang="es"/>
              <a:t> link</a:t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300" y="3521475"/>
            <a:ext cx="1606200" cy="113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6900" y="3590025"/>
            <a:ext cx="3475800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Linked Data Publishing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4906575" y="1776250"/>
            <a:ext cx="37260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aven Pro"/>
              <a:buChar char="❏"/>
            </a:pP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We used GraphDB to create a virtual server.</a:t>
            </a:r>
            <a:endParaRPr sz="1400"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❏"/>
            </a:pP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This allowed us to:</a:t>
            </a:r>
            <a:endParaRPr sz="1400">
              <a:solidFill>
                <a:srgbClr val="191B0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-Upload and store our ontology.</a:t>
            </a:r>
            <a:endParaRPr sz="1400">
              <a:solidFill>
                <a:srgbClr val="191B0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-Consult, using a SPARQL query, the information.</a:t>
            </a:r>
            <a:endParaRPr sz="14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25" y="1662903"/>
            <a:ext cx="4084052" cy="242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App</a:t>
            </a:r>
            <a:endParaRPr/>
          </a:p>
        </p:txBody>
      </p:sp>
      <p:sp>
        <p:nvSpPr>
          <p:cNvPr id="334" name="Google Shape;334;p21"/>
          <p:cNvSpPr txBox="1"/>
          <p:nvPr>
            <p:ph idx="1" type="body"/>
          </p:nvPr>
        </p:nvSpPr>
        <p:spPr>
          <a:xfrm>
            <a:off x="984850" y="3155600"/>
            <a:ext cx="7030500" cy="13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191B0E"/>
              </a:buClr>
              <a:buSzPts val="1400"/>
              <a:buFont typeface="Maven Pro"/>
              <a:buChar char="-"/>
            </a:pP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We connected our app with our </a:t>
            </a: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repository</a:t>
            </a: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 in GraphDB through SPARQLWrapper.</a:t>
            </a:r>
            <a:endParaRPr sz="1400">
              <a:solidFill>
                <a:srgbClr val="191B0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91B0E"/>
              </a:buClr>
              <a:buSzPts val="1400"/>
              <a:buFont typeface="Maven Pro"/>
              <a:buChar char="-"/>
            </a:pPr>
            <a:r>
              <a:rPr lang="es" sz="1400">
                <a:solidFill>
                  <a:srgbClr val="191B0E"/>
                </a:solidFill>
                <a:latin typeface="Maven Pro"/>
                <a:ea typeface="Maven Pro"/>
                <a:cs typeface="Maven Pro"/>
                <a:sym typeface="Maven Pro"/>
              </a:rPr>
              <a:t>We use the python's library Streamlit to create an interactive web application which allows the user to search specific information about buses.</a:t>
            </a:r>
            <a:endParaRPr sz="1400">
              <a:solidFill>
                <a:srgbClr val="191B0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975" y="753050"/>
            <a:ext cx="4520627" cy="222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