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Arim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Arim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rimo-bold.fntdata"/><Relationship Id="rId6" Type="http://schemas.openxmlformats.org/officeDocument/2006/relationships/slide" Target="slides/slide1.xml"/><Relationship Id="rId18" Type="http://schemas.openxmlformats.org/officeDocument/2006/relationships/font" Target="fonts/Arim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rontend-29lp.onrender.com/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36ea65f8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https://frontend-29lp.onrender.com/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a36ea65f86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36ea65f8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a36ea65f86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3b88bb7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3b88bb7d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3b88bb7d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3b88bb7d5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pendata-ajuntament.barcelona.cat/data/es/dataset/culturailleure-espaismusicacopes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.png"/><Relationship Id="rId13" Type="http://schemas.openxmlformats.org/officeDocument/2006/relationships/image" Target="../media/image18.png"/><Relationship Id="rId12" Type="http://schemas.openxmlformats.org/officeDocument/2006/relationships/hyperlink" Target="https://frontend-29lp.onrender.com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10.png"/><Relationship Id="rId15" Type="http://schemas.openxmlformats.org/officeDocument/2006/relationships/image" Target="../media/image21.png"/><Relationship Id="rId14" Type="http://schemas.openxmlformats.org/officeDocument/2006/relationships/image" Target="../media/image14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18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90400" y="1797280"/>
            <a:ext cx="1160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Barnabikes</a:t>
            </a:r>
            <a:endParaRPr/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475" y="996925"/>
            <a:ext cx="5919225" cy="486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38900" y="3429000"/>
            <a:ext cx="3833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Josu Arambarri Calvo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Rodrigo Alonzo Peña Vigil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Alberto González González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Sergio Martínez Lahoz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71500" y="381000"/>
            <a:ext cx="11601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Datasets</a:t>
            </a:r>
            <a:endParaRPr sz="2800"/>
          </a:p>
        </p:txBody>
      </p:sp>
      <p:sp>
        <p:nvSpPr>
          <p:cNvPr id="92" name="Google Shape;92;p14"/>
          <p:cNvSpPr/>
          <p:nvPr/>
        </p:nvSpPr>
        <p:spPr>
          <a:xfrm>
            <a:off x="571500" y="1081980"/>
            <a:ext cx="11049000" cy="9600"/>
          </a:xfrm>
          <a:prstGeom prst="rect">
            <a:avLst/>
          </a:prstGeom>
          <a:solidFill>
            <a:srgbClr val="E4E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762000" y="1460154"/>
            <a:ext cx="5048400" cy="5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54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100"/>
              <a:buAutoNum type="arabicPeriod"/>
            </a:pPr>
            <a:r>
              <a:rPr b="1" i="0" lang="en-US" sz="31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</a:t>
            </a:r>
            <a:r>
              <a:rPr b="1" lang="en-US" sz="31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IKING STATIONS</a:t>
            </a:r>
            <a:b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31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Licenc</a:t>
            </a:r>
            <a:r>
              <a:rPr i="1" lang="en-US" sz="31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y</a:t>
            </a:r>
            <a:r>
              <a:rPr b="0" i="1" lang="en-US" sz="31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b="0" i="0" lang="en-US" sz="31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CC BY 4.0.</a:t>
            </a:r>
            <a:endParaRPr b="0" i="0" sz="3100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254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3100"/>
              <a:buFont typeface="Arimo"/>
              <a:buAutoNum type="arabicPeriod"/>
            </a:pPr>
            <a:r>
              <a:rPr b="1" lang="en-US" sz="31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MUSIC AND BARS:</a:t>
            </a:r>
            <a:endParaRPr b="1" sz="31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Licency:</a:t>
            </a:r>
            <a:r>
              <a:rPr lang="en-US" sz="31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CC BY 4.0.</a:t>
            </a:r>
            <a:endParaRPr b="1" sz="31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Both dataset include:</a:t>
            </a:r>
            <a:endParaRPr b="1" sz="31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254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3100"/>
              <a:buFont typeface="Arimo"/>
              <a:buChar char="-"/>
            </a:pPr>
            <a:r>
              <a:rPr lang="en-US" sz="31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Latitude, Longitude</a:t>
            </a:r>
            <a:endParaRPr sz="31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254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3100"/>
              <a:buFont typeface="Arimo"/>
              <a:buChar char="-"/>
            </a:pPr>
            <a:r>
              <a:rPr lang="en-US" sz="31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District, </a:t>
            </a:r>
            <a:r>
              <a:rPr lang="en-US" sz="31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Neighborhood</a:t>
            </a:r>
            <a:endParaRPr sz="31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472779"/>
            <a:ext cx="19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096300" y="6026700"/>
            <a:ext cx="607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https://opendata-ajuntament.barcelona.cat/data/es/dataset/culturailleure-espaismusicacopes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3700" y="1227975"/>
            <a:ext cx="6076800" cy="116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3700" y="2759738"/>
            <a:ext cx="6270027" cy="2905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571500" y="381000"/>
            <a:ext cx="11601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Ontology</a:t>
            </a:r>
            <a:endParaRPr sz="2800"/>
          </a:p>
        </p:txBody>
      </p:sp>
      <p:sp>
        <p:nvSpPr>
          <p:cNvPr id="103" name="Google Shape;103;p15"/>
          <p:cNvSpPr/>
          <p:nvPr/>
        </p:nvSpPr>
        <p:spPr>
          <a:xfrm>
            <a:off x="571500" y="1081980"/>
            <a:ext cx="11049000" cy="9525"/>
          </a:xfrm>
          <a:prstGeom prst="rect">
            <a:avLst/>
          </a:prstGeom>
          <a:solidFill>
            <a:srgbClr val="E4E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600" y="1"/>
            <a:ext cx="74183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65175" y="1525551"/>
            <a:ext cx="5048400" cy="56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Bar &amp; BikingStation --</a:t>
            </a:r>
            <a:r>
              <a:rPr b="1" lang="en-US" sz="34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&gt;</a:t>
            </a:r>
            <a:endParaRPr b="1" sz="34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--&gt;StreetAddress --&gt;</a:t>
            </a:r>
            <a:endParaRPr b="1" sz="34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--&gt;Neighborhood --&gt;</a:t>
            </a:r>
            <a:endParaRPr b="1" sz="34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--&gt; District --&gt;</a:t>
            </a:r>
            <a:endParaRPr b="1" sz="34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--&gt;City </a:t>
            </a:r>
            <a:r>
              <a:rPr lang="en-US" sz="3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(Oscar’s </a:t>
            </a:r>
            <a:r>
              <a:rPr lang="en-US" sz="3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Recommendation</a:t>
            </a:r>
            <a:r>
              <a:rPr lang="en-US" sz="3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)</a:t>
            </a:r>
            <a:endParaRPr sz="30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Chowlk Converter: </a:t>
            </a:r>
            <a:endParaRPr sz="1000" u="sng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XML →</a:t>
            </a:r>
            <a:r>
              <a:rPr lang="en-US" sz="1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Turtle (TTL)</a:t>
            </a:r>
            <a:endParaRPr sz="10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571500" y="381000"/>
            <a:ext cx="11601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 u="sng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Data Cleaning </a:t>
            </a:r>
            <a:r>
              <a:rPr b="1" lang="en-US" sz="37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with OpenRefine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571500" y="1081980"/>
            <a:ext cx="11049000" cy="9600"/>
          </a:xfrm>
          <a:prstGeom prst="rect">
            <a:avLst/>
          </a:prstGeom>
          <a:solidFill>
            <a:srgbClr val="E4E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802935" y="4897549"/>
            <a:ext cx="10586130" cy="1272993"/>
            <a:chOff x="1593000" y="2305438"/>
            <a:chExt cx="5957975" cy="716453"/>
          </a:xfrm>
        </p:grpSpPr>
        <p:sp>
          <p:nvSpPr>
            <p:cNvPr id="113" name="Google Shape;113;p1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2277761" y="2305438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32" u="sng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Structured Data</a:t>
              </a:r>
              <a:endParaRPr b="1" sz="2632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126935" rotWithShape="0" algn="bl" dir="2700000" dist="50774">
                <a:srgbClr val="000000">
                  <a:alpha val="17000"/>
                </a:srgbClr>
              </a:outerShdw>
            </a:effectLst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66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466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4387850" y="2379591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-495090" lvl="0" marL="81238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91C1C"/>
                </a:buClr>
                <a:buSzPts val="1400"/>
                <a:buFont typeface="Roboto"/>
                <a:buChar char="●"/>
              </a:pPr>
              <a:r>
                <a:rPr lang="en-US">
                  <a:solidFill>
                    <a:srgbClr val="B91C1C"/>
                  </a:solidFill>
                  <a:latin typeface="Roboto"/>
                  <a:ea typeface="Roboto"/>
                  <a:cs typeface="Roboto"/>
                  <a:sym typeface="Roboto"/>
                </a:rPr>
                <a:t>Created unique </a:t>
              </a:r>
              <a:r>
                <a:rPr b="1" lang="en-US">
                  <a:solidFill>
                    <a:srgbClr val="B91C1C"/>
                  </a:solidFill>
                  <a:latin typeface="Roboto"/>
                  <a:ea typeface="Roboto"/>
                  <a:cs typeface="Roboto"/>
                  <a:sym typeface="Roboto"/>
                </a:rPr>
                <a:t>stationId </a:t>
              </a:r>
              <a:r>
                <a:rPr lang="en-US">
                  <a:solidFill>
                    <a:srgbClr val="B91C1C"/>
                  </a:solidFill>
                  <a:latin typeface="Roboto"/>
                  <a:ea typeface="Roboto"/>
                  <a:cs typeface="Roboto"/>
                  <a:sym typeface="Roboto"/>
                </a:rPr>
                <a:t>(with MD5 hash).</a:t>
              </a:r>
              <a:endParaRPr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95090" lvl="0" marL="81238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91C1C"/>
                </a:buClr>
                <a:buSzPts val="1400"/>
                <a:buFont typeface="Roboto"/>
                <a:buChar char="●"/>
              </a:pPr>
              <a:r>
                <a:rPr lang="en-US">
                  <a:solidFill>
                    <a:srgbClr val="B91C1C"/>
                  </a:solidFill>
                  <a:latin typeface="Roboto"/>
                  <a:ea typeface="Roboto"/>
                  <a:cs typeface="Roboto"/>
                  <a:sym typeface="Roboto"/>
                </a:rPr>
                <a:t>Converted all </a:t>
              </a:r>
              <a:r>
                <a:rPr b="1" lang="en-US">
                  <a:solidFill>
                    <a:srgbClr val="B91C1C"/>
                  </a:solidFill>
                  <a:latin typeface="Roboto"/>
                  <a:ea typeface="Roboto"/>
                  <a:cs typeface="Roboto"/>
                  <a:sym typeface="Roboto"/>
                </a:rPr>
                <a:t>IDs</a:t>
              </a:r>
              <a:r>
                <a:rPr lang="en-US">
                  <a:solidFill>
                    <a:srgbClr val="B91C1C"/>
                  </a:solidFill>
                  <a:latin typeface="Roboto"/>
                  <a:ea typeface="Roboto"/>
                  <a:cs typeface="Roboto"/>
                  <a:sym typeface="Roboto"/>
                </a:rPr>
                <a:t> and </a:t>
              </a:r>
              <a:r>
                <a:rPr b="1" lang="en-US">
                  <a:solidFill>
                    <a:srgbClr val="B91C1C"/>
                  </a:solidFill>
                  <a:latin typeface="Roboto"/>
                  <a:ea typeface="Roboto"/>
                  <a:cs typeface="Roboto"/>
                  <a:sym typeface="Roboto"/>
                </a:rPr>
                <a:t>coordinates</a:t>
              </a:r>
              <a:r>
                <a:rPr lang="en-US">
                  <a:solidFill>
                    <a:srgbClr val="B91C1C"/>
                  </a:solidFill>
                  <a:latin typeface="Roboto"/>
                  <a:ea typeface="Roboto"/>
                  <a:cs typeface="Roboto"/>
                  <a:sym typeface="Roboto"/>
                </a:rPr>
                <a:t> to numbers (</a:t>
              </a:r>
              <a:r>
                <a:rPr b="1" lang="en-US">
                  <a:solidFill>
                    <a:srgbClr val="B91C1C"/>
                  </a:solidFill>
                  <a:latin typeface="Roboto"/>
                  <a:ea typeface="Roboto"/>
                  <a:cs typeface="Roboto"/>
                  <a:sym typeface="Roboto"/>
                </a:rPr>
                <a:t>value.toNumber()</a:t>
              </a:r>
              <a:r>
                <a:rPr lang="en-US">
                  <a:solidFill>
                    <a:srgbClr val="B91C1C"/>
                  </a:solidFill>
                  <a:latin typeface="Roboto"/>
                  <a:ea typeface="Roboto"/>
                  <a:cs typeface="Roboto"/>
                  <a:sym typeface="Roboto"/>
                </a:rPr>
                <a:t>).</a:t>
              </a:r>
              <a:endParaRPr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802926" y="3917054"/>
            <a:ext cx="10586130" cy="990712"/>
            <a:chOff x="1593000" y="2245865"/>
            <a:chExt cx="5957975" cy="720203"/>
          </a:xfrm>
        </p:grpSpPr>
        <p:sp>
          <p:nvSpPr>
            <p:cNvPr id="121" name="Google Shape;121;p1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2290634" y="2245865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32" u="sng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Standardize</a:t>
              </a:r>
              <a:endParaRPr b="1" sz="2632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126935" rotWithShape="0" algn="bl" dir="2700000" dist="50774">
                <a:srgbClr val="000000">
                  <a:alpha val="17000"/>
                </a:srgbClr>
              </a:outerShdw>
            </a:effectLst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66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466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4387850" y="2290245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5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95090" lvl="0" marL="81238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400"/>
                <a:buFont typeface="Roboto"/>
                <a:buChar char="●"/>
              </a:pP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E.g., </a:t>
              </a:r>
              <a:r>
                <a:rPr b="1"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'C/', 'AV.', 'PL.'</a:t>
              </a: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→</a:t>
              </a: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'CARRER', 'AVINGUDA', 'PLAÇA'</a:t>
              </a: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95090" lvl="0" marL="81238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400"/>
                <a:buFont typeface="Roboto"/>
                <a:buChar char="●"/>
              </a:pP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Fixed typos and applied </a:t>
              </a:r>
              <a:r>
                <a:rPr b="1"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toTitlecase()</a:t>
              </a: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802926" y="2585200"/>
            <a:ext cx="10893836" cy="1489947"/>
            <a:chOff x="1593000" y="2315415"/>
            <a:chExt cx="6131155" cy="689726"/>
          </a:xfrm>
        </p:grpSpPr>
        <p:sp>
          <p:nvSpPr>
            <p:cNvPr id="129" name="Google Shape;129;p1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2287312" y="2315415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32" u="sng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Structure</a:t>
              </a:r>
              <a:endParaRPr b="1" sz="2632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126935" rotWithShape="0" algn="bl" dir="2700000" dist="50774">
                <a:srgbClr val="000000">
                  <a:alpha val="17000"/>
                </a:srgbClr>
              </a:outerShdw>
            </a:effectLst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66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466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4387855" y="2362841"/>
              <a:ext cx="33363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-495090" lvl="0" marL="81238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400"/>
                <a:buFont typeface="Lato"/>
                <a:buChar char="●"/>
              </a:pP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‘</a:t>
              </a:r>
              <a:r>
                <a:rPr b="1"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cross_street</a:t>
              </a: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’ : ("01-CiutatVella / 02-El Gòtic",...</a:t>
              </a: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95090" lvl="0" marL="81238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400"/>
                <a:buFont typeface="Roboto"/>
                <a:buChar char="●"/>
              </a:pP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split into </a:t>
              </a:r>
              <a:r>
                <a:rPr b="1"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4 </a:t>
              </a: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columns: </a:t>
              </a:r>
              <a:r>
                <a:rPr b="1"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districtId, districtName, neighborhoodId, neighborhoodName.</a:t>
              </a:r>
              <a:endParaRPr b="1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95090" lvl="0" marL="81238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400"/>
                <a:buFont typeface="Roboto"/>
                <a:buChar char="●"/>
              </a:pPr>
              <a:r>
                <a:rPr b="1"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‘address’, </a:t>
              </a: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split into</a:t>
              </a:r>
              <a:r>
                <a:rPr b="1"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addressType, Name, and Number.</a:t>
              </a:r>
              <a:endParaRPr b="1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16"/>
          <p:cNvGrpSpPr/>
          <p:nvPr/>
        </p:nvGrpSpPr>
        <p:grpSpPr>
          <a:xfrm>
            <a:off x="802935" y="1437133"/>
            <a:ext cx="10586130" cy="1143371"/>
            <a:chOff x="1593000" y="2322568"/>
            <a:chExt cx="5957975" cy="643500"/>
          </a:xfrm>
        </p:grpSpPr>
        <p:sp>
          <p:nvSpPr>
            <p:cNvPr id="137" name="Google Shape;137;p1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2283025" y="2364857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32" u="sng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Simplify</a:t>
              </a:r>
              <a:endParaRPr b="1" sz="2632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126935" rotWithShape="0" algn="bl" dir="2700000" dist="50774">
                <a:srgbClr val="000000">
                  <a:alpha val="17000"/>
                </a:srgbClr>
              </a:outerShdw>
            </a:effectLst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66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466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4368750" y="2323162"/>
              <a:ext cx="31773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62425" lIns="162425" spcFirstLastPara="1" rIns="162425" wrap="square" tIns="162425">
              <a:noAutofit/>
            </a:bodyPr>
            <a:lstStyle/>
            <a:p>
              <a:pPr indent="-495090" lvl="0" marL="81238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400"/>
                <a:buFont typeface="Roboto"/>
                <a:buChar char="●"/>
              </a:pPr>
              <a:r>
                <a:rPr b="1"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Bicing:</a:t>
              </a: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physical_configuration, last_updated, ttl, short_name, rental_uris.</a:t>
              </a:r>
              <a:endParaRPr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95090" lvl="0" marL="81238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400"/>
                <a:buFont typeface="Roboto"/>
                <a:buChar char="●"/>
              </a:pPr>
              <a:r>
                <a:rPr b="1"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Bars:</a:t>
              </a:r>
              <a:r>
                <a:rPr lang="en-US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 timetable, estimated_dates, created, institution_name.</a:t>
              </a:r>
              <a:endParaRPr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4" name="Google Shape;144;p16"/>
          <p:cNvSpPr txBox="1"/>
          <p:nvPr/>
        </p:nvSpPr>
        <p:spPr>
          <a:xfrm>
            <a:off x="2108590" y="2051190"/>
            <a:ext cx="304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Removed "noise" columns</a:t>
            </a:r>
            <a:endParaRPr b="1"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2108590" y="3239256"/>
            <a:ext cx="304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Split complex columns into new, atomic fields.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2123815" y="4339152"/>
            <a:ext cx="304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Unified inconsistent text values using "Mass Edit"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2100955" y="5424360"/>
            <a:ext cx="3041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3F4F6"/>
                </a:solidFill>
                <a:latin typeface="Roboto"/>
                <a:ea typeface="Roboto"/>
                <a:cs typeface="Roboto"/>
                <a:sym typeface="Roboto"/>
              </a:rPr>
              <a:t>Ensured data integrity and correct formats.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10558133" y="1298758"/>
            <a:ext cx="561900" cy="416700"/>
          </a:xfrm>
          <a:prstGeom prst="roundRect">
            <a:avLst>
              <a:gd fmla="val 16667" name="adj"/>
            </a:avLst>
          </a:prstGeom>
          <a:solidFill>
            <a:srgbClr val="BE2F22"/>
          </a:solidFill>
          <a:ln>
            <a:noFill/>
          </a:ln>
        </p:spPr>
        <p:txBody>
          <a:bodyPr anchorCtr="0" anchor="ctr" bIns="131900" lIns="131900" spcFirstLastPara="1" rIns="131900" wrap="square" tIns="13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b="1" sz="1748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10257113" y="1005713"/>
            <a:ext cx="561900" cy="416700"/>
          </a:xfrm>
          <a:prstGeom prst="roundRect">
            <a:avLst>
              <a:gd fmla="val 16667" name="adj"/>
            </a:avLst>
          </a:prstGeom>
          <a:solidFill>
            <a:srgbClr val="BE2F22"/>
          </a:solidFill>
          <a:ln>
            <a:noFill/>
          </a:ln>
        </p:spPr>
        <p:txBody>
          <a:bodyPr anchorCtr="0" anchor="ctr" bIns="131900" lIns="131900" spcFirstLastPara="1" rIns="131900" wrap="square" tIns="13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endParaRPr b="1" sz="1748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7653" y="394981"/>
            <a:ext cx="547210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/>
          <p:nvPr/>
        </p:nvSpPr>
        <p:spPr>
          <a:xfrm>
            <a:off x="10549069" y="2098150"/>
            <a:ext cx="544800" cy="404100"/>
          </a:xfrm>
          <a:prstGeom prst="roundRect">
            <a:avLst>
              <a:gd fmla="val 16667" name="adj"/>
            </a:avLst>
          </a:prstGeom>
          <a:solidFill>
            <a:srgbClr val="BE2F22"/>
          </a:solidFill>
          <a:ln>
            <a:noFill/>
          </a:ln>
        </p:spPr>
        <p:txBody>
          <a:bodyPr anchorCtr="0" anchor="ctr" bIns="127925" lIns="127925" spcFirstLastPara="1" rIns="127925" wrap="square" tIns="127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b="1"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10257125" y="1813938"/>
            <a:ext cx="544800" cy="404100"/>
          </a:xfrm>
          <a:prstGeom prst="roundRect">
            <a:avLst>
              <a:gd fmla="val 16667" name="adj"/>
            </a:avLst>
          </a:prstGeom>
          <a:solidFill>
            <a:srgbClr val="BE2F22"/>
          </a:solidFill>
          <a:ln>
            <a:noFill/>
          </a:ln>
        </p:spPr>
        <p:txBody>
          <a:bodyPr anchorCtr="0" anchor="ctr" bIns="127925" lIns="127925" spcFirstLastPara="1" rIns="127925" wrap="square" tIns="127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40</a:t>
            </a:r>
            <a:endParaRPr b="1"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16"/>
          <p:cNvSpPr/>
          <p:nvPr/>
        </p:nvSpPr>
        <p:spPr>
          <a:xfrm rot="5404982">
            <a:off x="10671127" y="2002650"/>
            <a:ext cx="207000" cy="172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 rot="5404982">
            <a:off x="10717977" y="1178250"/>
            <a:ext cx="207000" cy="172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Linked data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1081980"/>
            <a:ext cx="11049000" cy="9600"/>
          </a:xfrm>
          <a:prstGeom prst="rect">
            <a:avLst/>
          </a:prstGeom>
          <a:solidFill>
            <a:srgbClr val="E4E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2103748"/>
            <a:ext cx="56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Linked classes with Wikidata: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54700" y="2762000"/>
            <a:ext cx="4071000" cy="25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District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Neighborhood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4900" y="1967798"/>
            <a:ext cx="6936843" cy="3954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RML Mapping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1081980"/>
            <a:ext cx="11049000" cy="9600"/>
          </a:xfrm>
          <a:prstGeom prst="rect">
            <a:avLst/>
          </a:prstGeom>
          <a:solidFill>
            <a:srgbClr val="E4E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170400"/>
            <a:ext cx="7812149" cy="560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9225" y="2720151"/>
            <a:ext cx="1988450" cy="198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/>
        </p:nvSpPr>
        <p:spPr>
          <a:xfrm>
            <a:off x="571500" y="3810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RDF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1081980"/>
            <a:ext cx="11049000" cy="9600"/>
          </a:xfrm>
          <a:prstGeom prst="rect">
            <a:avLst/>
          </a:prstGeom>
          <a:solidFill>
            <a:srgbClr val="E4E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758975" y="1412125"/>
            <a:ext cx="10023900" cy="4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&lt;http://www.barnabikes.org/ODKG/handsOn/group10/resource/Bar/1033142110&gt; a ns:Bar;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ns:barId "1033142110";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ns:barName "Cerveseria Antibiòtic";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ns:barType "Bars I Pubs Musicals";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ns:hasAddress &lt;http://www.barnabikes.org/ODKG/handsOn/group10/resource/StreetAddress/41.38450_2.14627&gt; 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&lt;http://www.barnabikes.org/ODKG/handsOn/group10/resource/BikingStation/9fba2951&gt; 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ns:BikingStation;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ns:capacity 24;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ns:hasAddress &lt;http://www.barnabikes.org/ODKG/handsOn/group10/resource/StreetAddress/station_9fba2951&gt;;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ns:stationId "9fba2951" 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96305"/>
            <a:ext cx="3530500" cy="508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600" y="1396305"/>
            <a:ext cx="3530649" cy="508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850" y="1396305"/>
            <a:ext cx="3530500" cy="5080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170110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400" y="1701105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94650" y="170110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381000"/>
            <a:ext cx="11601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Demo</a:t>
            </a:r>
            <a:endParaRPr sz="1500"/>
          </a:p>
        </p:txBody>
      </p:sp>
      <p:sp>
        <p:nvSpPr>
          <p:cNvPr id="190" name="Google Shape;190;p20"/>
          <p:cNvSpPr/>
          <p:nvPr/>
        </p:nvSpPr>
        <p:spPr>
          <a:xfrm>
            <a:off x="571500" y="1081980"/>
            <a:ext cx="11049000" cy="9525"/>
          </a:xfrm>
          <a:prstGeom prst="rect">
            <a:avLst/>
          </a:prstGeom>
          <a:solidFill>
            <a:srgbClr val="E4E1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876300" y="2596455"/>
            <a:ext cx="306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Concept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635400" y="2596455"/>
            <a:ext cx="306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Technical stack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394650" y="2596455"/>
            <a:ext cx="306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Database</a:t>
            </a:r>
            <a:endParaRPr/>
          </a:p>
        </p:txBody>
      </p:sp>
      <p:pic>
        <p:nvPicPr>
          <p:cNvPr descr="image.png" id="194" name="Google Shape;19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7750" y="1882080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06850" y="1882080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04200" y="188208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8355100" y="4759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12"/>
              </a:rPr>
              <a:t>https://frontend-29lp.onrender.com/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53993"/>
          <a:stretch/>
        </p:blipFill>
        <p:spPr>
          <a:xfrm>
            <a:off x="707888" y="2977450"/>
            <a:ext cx="3257725" cy="215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967950" y="3120075"/>
            <a:ext cx="26772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Given a bike station, find and display the 3 closest bars to that station.</a:t>
            </a:r>
            <a:br>
              <a:rPr lang="en-US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</a:b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Given a bar, find and display the 3 closest bike stations to that bar.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53993"/>
          <a:stretch/>
        </p:blipFill>
        <p:spPr>
          <a:xfrm>
            <a:off x="4540088" y="3018650"/>
            <a:ext cx="3257725" cy="215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4800150" y="3161275"/>
            <a:ext cx="26772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FRONTEND: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BACKEND: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21750" y="3375500"/>
            <a:ext cx="1247007" cy="11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227275" y="4999650"/>
            <a:ext cx="1198599" cy="119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156500" y="4792938"/>
            <a:ext cx="1198600" cy="11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53993"/>
          <a:stretch/>
        </p:blipFill>
        <p:spPr>
          <a:xfrm>
            <a:off x="8226250" y="2873650"/>
            <a:ext cx="3257700" cy="136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8486300" y="3016275"/>
            <a:ext cx="26772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07" name="Google Shape;207;p2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311900" y="2977450"/>
            <a:ext cx="1801800" cy="171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title="frame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754425" y="230888"/>
            <a:ext cx="1711698" cy="1711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446073" y="4792950"/>
            <a:ext cx="1533450" cy="12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